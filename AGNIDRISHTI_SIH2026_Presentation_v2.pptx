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25" d="100"/>
          <a:sy n="125" d="100"/>
        </p:scale>
        <p:origin x="-941" y="-9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amshi Krishna" userId="3ad7ad1b40e765e0" providerId="LiveId" clId="{A5C9E084-ACD9-4DE5-8EA6-1B7264CE7C0A}"/>
    <pc:docChg chg="modSld">
      <pc:chgData name="Vamshi Krishna" userId="3ad7ad1b40e765e0" providerId="LiveId" clId="{A5C9E084-ACD9-4DE5-8EA6-1B7264CE7C0A}" dt="2026-09-10T02:11:14.209" v="0" actId="1076"/>
      <pc:docMkLst>
        <pc:docMk/>
      </pc:docMkLst>
      <pc:sldChg chg="modSp mod">
        <pc:chgData name="Vamshi Krishna" userId="3ad7ad1b40e765e0" providerId="LiveId" clId="{A5C9E084-ACD9-4DE5-8EA6-1B7264CE7C0A}" dt="2026-09-10T02:11:14.209" v="0" actId="1076"/>
        <pc:sldMkLst>
          <pc:docMk/>
          <pc:sldMk cId="0" sldId="258"/>
        </pc:sldMkLst>
        <pc:spChg chg="mod">
          <ac:chgData name="Vamshi Krishna" userId="3ad7ad1b40e765e0" providerId="LiveId" clId="{A5C9E084-ACD9-4DE5-8EA6-1B7264CE7C0A}" dt="2026-09-10T02:11:14.209" v="0" actId="1076"/>
          <ac:spMkLst>
            <pc:docMk/>
            <pc:sldMk cId="0" sldId="258"/>
            <ac:spMk id="7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365760"/>
            <a:ext cx="103628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10549B"/>
                </a:solidFill>
                <a:latin typeface="Times New Roman"/>
              </a:defRPr>
            </a:pPr>
            <a:r>
              <a:t>SMART INDIA HACKATHON 2026</a:t>
            </a:r>
          </a:p>
          <a:p>
            <a:pPr algn="ctr">
              <a:defRPr sz="2800" b="1">
                <a:solidFill>
                  <a:srgbClr val="1E2837"/>
                </a:solidFill>
                <a:latin typeface="Times New Roman"/>
              </a:defRPr>
            </a:pPr>
            <a:r>
              <a:t>TITLE PAGE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10728655" cy="438912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1054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365760" rtlCol="0" anchor="ctr"/>
          <a:lstStyle/>
          <a:p>
            <a:pPr algn="ctr">
              <a:spcAft>
                <a:spcPts val="1400"/>
              </a:spcAft>
            </a:pPr>
            <a:r>
              <a:rPr sz="1700" b="1">
                <a:solidFill>
                  <a:srgbClr val="1E2837"/>
                </a:solidFill>
                <a:latin typeface="Arial"/>
              </a:rPr>
              <a:t>•  Problem Statement ID – </a:t>
            </a:r>
            <a:r>
              <a:rPr sz="1700" b="0">
                <a:solidFill>
                  <a:srgbClr val="10549B"/>
                </a:solidFill>
                <a:latin typeface="Arial"/>
              </a:rPr>
              <a:t>SIH26162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1E2837"/>
                </a:solidFill>
                <a:latin typeface="Arial"/>
              </a:rPr>
              <a:t>•  Problem Statement Title – </a:t>
            </a:r>
            <a:r>
              <a:rPr sz="1700" b="0">
                <a:solidFill>
                  <a:srgbClr val="10549B"/>
                </a:solidFill>
                <a:latin typeface="Arial"/>
              </a:rPr>
              <a:t>AI-Based Detection and Classification of Industrial Fires and Persistent Thermal Sources Using NASA FIRMS, OSM &amp; Satellite Data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1E2837"/>
                </a:solidFill>
                <a:latin typeface="Arial"/>
              </a:rPr>
              <a:t>•  Theme – </a:t>
            </a:r>
            <a:r>
              <a:rPr sz="1700" b="0">
                <a:solidFill>
                  <a:srgbClr val="1E2837"/>
                </a:solidFill>
                <a:latin typeface="Arial"/>
              </a:rPr>
              <a:t>Space Technology / Defense &amp; Disaster Management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1E2837"/>
                </a:solidFill>
                <a:latin typeface="Arial"/>
              </a:rPr>
              <a:t>•  PS Category – </a:t>
            </a:r>
            <a:r>
              <a:rPr sz="1700" b="0">
                <a:solidFill>
                  <a:srgbClr val="1E2837"/>
                </a:solidFill>
                <a:latin typeface="Arial"/>
              </a:rPr>
              <a:t>Software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1E2837"/>
                </a:solidFill>
                <a:latin typeface="Arial"/>
              </a:rPr>
              <a:t>•  Team ID – </a:t>
            </a:r>
            <a:r>
              <a:rPr sz="1700" b="0">
                <a:solidFill>
                  <a:srgbClr val="1E2837"/>
                </a:solidFill>
                <a:latin typeface="Arial"/>
              </a:rPr>
              <a:t>[Your Team ID]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1E2837"/>
                </a:solidFill>
                <a:latin typeface="Arial"/>
              </a:rPr>
              <a:t>•  Team Name – </a:t>
            </a:r>
            <a:r>
              <a:rPr sz="1700" b="0">
                <a:solidFill>
                  <a:srgbClr val="1E2837"/>
                </a:solidFill>
                <a:latin typeface="Arial"/>
              </a:rPr>
              <a:t>Helix House / [Your Team Name]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1E2837"/>
                </a:solidFill>
                <a:latin typeface="Arial"/>
              </a:rPr>
              <a:t>•  Project Name – </a:t>
            </a:r>
            <a:r>
              <a:rPr sz="1700" b="0">
                <a:solidFill>
                  <a:srgbClr val="10549B"/>
                </a:solidFill>
                <a:latin typeface="Arial"/>
              </a:rPr>
              <a:t>AGNIDRISHTI (अग्निदृष्टि) — Real-Time Geospatial AI Industrial Fire Surveillance &amp; Toxic Plume Dispersion Engine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365760" y="182880"/>
            <a:ext cx="1463040" cy="7315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E28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1E2837"/>
                </a:solidFill>
                <a:latin typeface="Georgia"/>
              </a:defRPr>
            </a:pPr>
            <a:r>
              <a:t>Helix House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11680" y="22860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E2837"/>
                </a:solidFill>
                <a:latin typeface="Times New Roman"/>
              </a:defRPr>
            </a:pPr>
            <a:r>
              <a:t>IDEA TITLE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137160"/>
            <a:ext cx="2011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10549B"/>
                </a:solidFill>
                <a:latin typeface="Arial"/>
              </a:defRPr>
            </a:pPr>
            <a:r>
              <a:t>SMART INDIA</a:t>
            </a:r>
          </a:p>
          <a:p>
            <a:pPr algn="r">
              <a:defRPr sz="1200" b="1">
                <a:solidFill>
                  <a:srgbClr val="10549B"/>
                </a:solidFill>
                <a:latin typeface="Arial"/>
              </a:defRPr>
            </a:pPr>
            <a:r>
              <a:t>HACKATHON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07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000">
                <a:solidFill>
                  <a:srgbClr val="FFFFFF"/>
                </a:solidFill>
                <a:latin typeface="Arial"/>
              </a:defRPr>
            </a:pPr>
            <a:r>
              <a:t>@SIH Idea submission- Template                                                                                                                                          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960120"/>
            <a:ext cx="1146017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10549B"/>
                </a:solidFill>
                <a:latin typeface="Georgia"/>
              </a:defRPr>
            </a:pPr>
            <a:r>
              <a:t>ZyraNav / AGNIDRISHTI: Real-Time Geospatial AI Industrial Fire Surveillance &amp; Toxic Plume Engine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463040"/>
            <a:ext cx="5577840" cy="2286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tlCol="0" anchor="ctr"/>
          <a:lstStyle/>
          <a:p>
            <a:pPr algn="ctr">
              <a:spcAft>
                <a:spcPts val="600"/>
              </a:spcAft>
              <a:defRPr sz="1600" b="1">
                <a:solidFill>
                  <a:srgbClr val="DC2626"/>
                </a:solidFill>
                <a:latin typeface="Arial"/>
              </a:defRPr>
            </a:pPr>
            <a:r>
              <a:t>Problem:</a:t>
            </a:r>
          </a:p>
          <a:p>
            <a:pPr>
              <a:spcAft>
                <a:spcPts val="400"/>
              </a:spcAft>
              <a:defRPr sz="1100">
                <a:solidFill>
                  <a:srgbClr val="1E2837"/>
                </a:solidFill>
                <a:latin typeface="Arial"/>
              </a:defRPr>
            </a:pPr>
            <a:r>
              <a:t>• Satellite thermal sensors detect 15,000+ daily hotspots in India, but ~92% are non-critical stubble burning or forest fires.</a:t>
            </a:r>
          </a:p>
          <a:p>
            <a:pPr>
              <a:spcAft>
                <a:spcPts val="400"/>
              </a:spcAft>
              <a:defRPr sz="1100">
                <a:solidFill>
                  <a:srgbClr val="1E2837"/>
                </a:solidFill>
                <a:latin typeface="Arial"/>
              </a:defRPr>
            </a:pPr>
            <a:r>
              <a:t>• Routine operational refinery flaring triggers constant false alarms, masking catastrophic hydrocarbon explosions.</a:t>
            </a:r>
          </a:p>
          <a:p>
            <a:pPr>
              <a:spcAft>
                <a:spcPts val="400"/>
              </a:spcAft>
              <a:defRPr sz="1100">
                <a:solidFill>
                  <a:srgbClr val="1E2837"/>
                </a:solidFill>
                <a:latin typeface="Arial"/>
              </a:defRPr>
            </a:pPr>
            <a:r>
              <a:t>• Emergency command centers lack real-time downwind toxic gas hazard modeling during major chemical disasters.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463040"/>
            <a:ext cx="5669280" cy="228600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1054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tlCol="0" anchor="ctr"/>
          <a:lstStyle/>
          <a:p>
            <a:pPr algn="ctr">
              <a:spcAft>
                <a:spcPts val="600"/>
              </a:spcAft>
              <a:defRPr sz="1600" b="1">
                <a:solidFill>
                  <a:srgbClr val="10549B"/>
                </a:solidFill>
                <a:latin typeface="Arial"/>
              </a:defRPr>
            </a:pPr>
            <a:r>
              <a:t>Our Idea :</a:t>
            </a:r>
          </a:p>
          <a:p>
            <a:pPr>
              <a:defRPr sz="1200">
                <a:solidFill>
                  <a:srgbClr val="1E2837"/>
                </a:solidFill>
                <a:latin typeface="Arial"/>
              </a:defRPr>
            </a:pPr>
            <a:r>
              <a:t>AGNIDRISHTI is a defense-grade dual-deliverable AI engine that isolates industrial thermal emergencies from benign biomass burning using historical FRP baseline ratios (R ≥ 2.2x) and projects dynamic Gaussian toxic plume dispersion corridors driven by live atmospheric wind streams.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3886200"/>
            <a:ext cx="5577840" cy="23774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tlCol="0" anchor="ctr"/>
          <a:lstStyle/>
          <a:p>
            <a:pPr algn="ctr">
              <a:spcAft>
                <a:spcPts val="600"/>
              </a:spcAft>
              <a:defRPr sz="1600" b="1">
                <a:solidFill>
                  <a:srgbClr val="10549B"/>
                </a:solidFill>
                <a:latin typeface="Arial"/>
              </a:defRPr>
            </a:pPr>
            <a:r>
              <a:t>Proposed Solution :</a:t>
            </a:r>
          </a:p>
          <a:p>
            <a:pPr>
              <a:spcAft>
                <a:spcPts val="400"/>
              </a:spcAft>
              <a:defRPr sz="1100">
                <a:solidFill>
                  <a:srgbClr val="1E2837"/>
                </a:solidFill>
                <a:latin typeface="Arial"/>
              </a:defRPr>
            </a:pPr>
            <a:r>
              <a:t>• Seamless 3-layer architecture: ESA WorldCover 10m LULC (primary), OSM Industrial Polygons (secondary), and FRP Baseline Ratio Engine (tertiary).</a:t>
            </a:r>
          </a:p>
          <a:p>
            <a:pPr>
              <a:spcAft>
                <a:spcPts val="400"/>
              </a:spcAft>
              <a:defRPr sz="1100">
                <a:solidFill>
                  <a:srgbClr val="1E2837"/>
                </a:solidFill>
                <a:latin typeface="Arial"/>
              </a:defRPr>
            </a:pPr>
            <a:r>
              <a:t>• Dynamic Gaussian plume model predicts Pasquill-Gifford atmospheric dispersion driven by live 10m surface wind vectors.</a:t>
            </a:r>
          </a:p>
          <a:p>
            <a:pPr>
              <a:spcAft>
                <a:spcPts val="400"/>
              </a:spcAft>
              <a:defRPr sz="1100">
                <a:solidFill>
                  <a:srgbClr val="1E2837"/>
                </a:solidFill>
                <a:latin typeface="Arial"/>
              </a:defRPr>
            </a:pPr>
            <a:r>
              <a:t>• Automated reverse geocoding via OSM Nominatim API resolves exact administrative boundaries, outputting RFC 7946 GeoJSON map overlays.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3886200"/>
            <a:ext cx="5669280" cy="23774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tlCol="0" anchor="ctr"/>
          <a:lstStyle/>
          <a:p>
            <a:pPr algn="ctr">
              <a:spcAft>
                <a:spcPts val="600"/>
              </a:spcAft>
              <a:defRPr sz="1600" b="1">
                <a:solidFill>
                  <a:srgbClr val="10549B"/>
                </a:solidFill>
                <a:latin typeface="Arial"/>
              </a:defRPr>
            </a:pPr>
            <a:r>
              <a:t>Innovation/Uniqueness:</a:t>
            </a:r>
          </a:p>
          <a:p>
            <a:pPr>
              <a:spcAft>
                <a:spcPts val="400"/>
              </a:spcAft>
              <a:defRPr sz="1100">
                <a:solidFill>
                  <a:srgbClr val="1E2837"/>
                </a:solidFill>
                <a:latin typeface="Arial"/>
              </a:defRPr>
            </a:pPr>
            <a:r>
              <a:t>• India's first baseline-driven filter segregating routine flaring (FRP ≤ baseline) from runaway industrial explosions (&gt;2.2x).</a:t>
            </a:r>
          </a:p>
          <a:p>
            <a:pPr>
              <a:spcAft>
                <a:spcPts val="400"/>
              </a:spcAft>
              <a:defRPr sz="1100">
                <a:solidFill>
                  <a:srgbClr val="1E2837"/>
                </a:solidFill>
                <a:latin typeface="Arial"/>
              </a:defRPr>
            </a:pPr>
            <a:r>
              <a:t>• Transforms raw 375m NASA FIRMS satellite signals into usable downwind evacuation GIS data through Gaussian signal conversion.</a:t>
            </a:r>
          </a:p>
          <a:p>
            <a:pPr>
              <a:spcAft>
                <a:spcPts val="400"/>
              </a:spcAft>
              <a:defRPr sz="1100">
                <a:solidFill>
                  <a:srgbClr val="1E2837"/>
                </a:solidFill>
                <a:latin typeface="Arial"/>
              </a:defRPr>
            </a:pPr>
            <a:r>
              <a:t>• Zero-latency spatial query engine evaluates nationwide alerts in &lt;300ms using in-memory Shapely bounding polygons.</a:t>
            </a:r>
          </a:p>
          <a:p>
            <a:pPr>
              <a:spcAft>
                <a:spcPts val="400"/>
              </a:spcAft>
              <a:defRPr sz="1100">
                <a:solidFill>
                  <a:srgbClr val="1E2837"/>
                </a:solidFill>
                <a:latin typeface="Arial"/>
              </a:defRPr>
            </a:pPr>
            <a:r>
              <a:t>• 100% full-stack working prototype fully compliant with both NTRO mandatory deliverables specified in PS SIH26162.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365760" y="182880"/>
            <a:ext cx="1463040" cy="7315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E28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1E2837"/>
                </a:solidFill>
                <a:latin typeface="Georgia"/>
              </a:defRPr>
            </a:pPr>
            <a:r>
              <a:t>Helix House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11680" y="22860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E2837"/>
                </a:solidFill>
                <a:latin typeface="Times New Roman"/>
              </a:defRPr>
            </a:pPr>
            <a:r>
              <a:t>TECHNICAL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137160"/>
            <a:ext cx="2011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10549B"/>
                </a:solidFill>
                <a:latin typeface="Arial"/>
              </a:defRPr>
            </a:pPr>
            <a:r>
              <a:t>SMART INDIA</a:t>
            </a:r>
          </a:p>
          <a:p>
            <a:pPr algn="r">
              <a:defRPr sz="1200" b="1">
                <a:solidFill>
                  <a:srgbClr val="10549B"/>
                </a:solidFill>
                <a:latin typeface="Arial"/>
              </a:defRPr>
            </a:pPr>
            <a:r>
              <a:t>HACKATHON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07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000">
                <a:solidFill>
                  <a:srgbClr val="FFFFFF"/>
                </a:solidFill>
                <a:latin typeface="Arial"/>
              </a:defRPr>
            </a:pPr>
            <a:r>
              <a:t>@SIH Idea submission- Template                                                                                                                                           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05840"/>
            <a:ext cx="4206240" cy="52578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tlCol="0" anchor="ctr"/>
          <a:lstStyle/>
          <a:p>
            <a:pPr algn="ctr">
              <a:spcAft>
                <a:spcPts val="600"/>
              </a:spcAft>
              <a:defRPr sz="1600" b="1">
                <a:solidFill>
                  <a:srgbClr val="10549B"/>
                </a:solidFill>
                <a:latin typeface="Arial"/>
              </a:defRPr>
            </a:pPr>
            <a:r>
              <a:t>Hardware &amp; Software</a:t>
            </a:r>
          </a:p>
          <a:p>
            <a:pPr>
              <a:spcAft>
                <a:spcPts val="300"/>
              </a:spcAft>
              <a:defRPr sz="1000">
                <a:solidFill>
                  <a:srgbClr val="1E2837"/>
                </a:solidFill>
                <a:latin typeface="Arial"/>
              </a:defRPr>
            </a:pPr>
            <a:r>
              <a:t>• NASA FIRMS VIIRS (375m): Primary telemetry source for Suomi-NPP &amp; NOAA-20 (T4 brightness, FRP MW).</a:t>
            </a:r>
          </a:p>
          <a:p>
            <a:pPr>
              <a:spcAft>
                <a:spcPts val="300"/>
              </a:spcAft>
              <a:defRPr sz="1000">
                <a:solidFill>
                  <a:srgbClr val="1E2837"/>
                </a:solidFill>
                <a:latin typeface="Arial"/>
              </a:defRPr>
            </a:pPr>
            <a:r>
              <a:t>• ESA WorldCover (10m LULC): Satellite land-use land-cover raster mask for cropland &amp; forest reserves.</a:t>
            </a:r>
          </a:p>
          <a:p>
            <a:pPr>
              <a:spcAft>
                <a:spcPts val="300"/>
              </a:spcAft>
              <a:defRPr sz="1000">
                <a:solidFill>
                  <a:srgbClr val="1E2837"/>
                </a:solidFill>
                <a:latin typeface="Arial"/>
              </a:defRPr>
            </a:pPr>
            <a:r>
              <a:t>• OSM Overpass API: Live spatial query engine for industrial tags (oil_refinery, storage_tank, power_plant).</a:t>
            </a:r>
          </a:p>
          <a:p>
            <a:pPr>
              <a:spcAft>
                <a:spcPts val="300"/>
              </a:spcAft>
              <a:defRPr sz="1000">
                <a:solidFill>
                  <a:srgbClr val="1E2837"/>
                </a:solidFill>
                <a:latin typeface="Arial"/>
              </a:defRPr>
            </a:pPr>
            <a:r>
              <a:t>• Open-Meteo Weather API: Real-time 10-meter surface wind speed &amp; direction forecast streams.</a:t>
            </a:r>
          </a:p>
          <a:p>
            <a:pPr>
              <a:spcAft>
                <a:spcPts val="300"/>
              </a:spcAft>
              <a:defRPr sz="1000">
                <a:solidFill>
                  <a:srgbClr val="1E2837"/>
                </a:solidFill>
                <a:latin typeface="Arial"/>
              </a:defRPr>
            </a:pPr>
            <a:r>
              <a:t>• Python 3.10 / FastAPI: High-performance ASGI server with in-memory 300s TTL cache.</a:t>
            </a:r>
          </a:p>
          <a:p>
            <a:pPr>
              <a:spcAft>
                <a:spcPts val="300"/>
              </a:spcAft>
              <a:defRPr sz="1000">
                <a:solidFill>
                  <a:srgbClr val="1E2837"/>
                </a:solidFill>
                <a:latin typeface="Arial"/>
              </a:defRPr>
            </a:pPr>
            <a:r>
              <a:t>• Shapely &amp; GeoPandas: Spatial geometry engine for polygon intersection &amp; bounding box operations.</a:t>
            </a:r>
          </a:p>
          <a:p>
            <a:pPr>
              <a:spcAft>
                <a:spcPts val="300"/>
              </a:spcAft>
              <a:defRPr sz="1000">
                <a:solidFill>
                  <a:srgbClr val="1E2837"/>
                </a:solidFill>
                <a:latin typeface="Arial"/>
              </a:defRPr>
            </a:pPr>
            <a:r>
              <a:t>• React 18 &amp; Leaflet.js: Tactical frontend dashboard rendering RFC 7946 GeoJSON map overlays.</a:t>
            </a:r>
          </a:p>
          <a:p>
            <a:pPr>
              <a:spcAft>
                <a:spcPts val="300"/>
              </a:spcAft>
              <a:defRPr sz="1000">
                <a:solidFill>
                  <a:srgbClr val="1E2837"/>
                </a:solidFill>
                <a:latin typeface="Arial"/>
              </a:defRPr>
            </a:pPr>
            <a:r>
              <a:t>• Pytest Test Suite: 11/11 automated unit and API integration tests passing cleanly.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1005840"/>
            <a:ext cx="7040880" cy="3429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846320" y="10515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0549B"/>
                </a:solidFill>
                <a:latin typeface="Arial"/>
              </a:defRPr>
            </a:pPr>
            <a:r>
              <a:t>FLOW CHART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937760" y="1371600"/>
            <a:ext cx="1645920" cy="411480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>
              <a:defRPr sz="850" b="1">
                <a:solidFill>
                  <a:srgbClr val="FFFFFF"/>
                </a:solidFill>
                <a:latin typeface="Arial"/>
              </a:defRPr>
            </a:pPr>
            <a:r>
              <a:t>NASA FIRMS VIIRS</a:t>
            </a:r>
          </a:p>
          <a:p>
            <a:pPr algn="ctr">
              <a:defRPr sz="850" b="1">
                <a:solidFill>
                  <a:srgbClr val="FFFFFF"/>
                </a:solidFill>
                <a:latin typeface="Arial"/>
              </a:defRPr>
            </a:pPr>
            <a:r>
              <a:t>375m Telemetry Stream</a:t>
            </a:r>
          </a:p>
        </p:txBody>
      </p:sp>
      <p:sp>
        <p:nvSpPr>
          <p:cNvPr id="10" name="Down Arrow 9"/>
          <p:cNvSpPr/>
          <p:nvPr/>
        </p:nvSpPr>
        <p:spPr>
          <a:xfrm>
            <a:off x="5669280" y="1801368"/>
            <a:ext cx="137160" cy="137160"/>
          </a:xfrm>
          <a:prstGeom prst="downArrow">
            <a:avLst/>
          </a:prstGeom>
          <a:solidFill>
            <a:srgbClr val="1E2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937760" y="1956816"/>
            <a:ext cx="1645920" cy="41148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>
              <a:defRPr sz="850" b="1">
                <a:solidFill>
                  <a:srgbClr val="FFFFFF"/>
                </a:solidFill>
                <a:latin typeface="Arial"/>
              </a:defRPr>
            </a:pPr>
            <a:r>
              <a:t>300s TTL Stream Cache</a:t>
            </a:r>
          </a:p>
          <a:p>
            <a:pPr algn="ctr">
              <a:defRPr sz="850" b="1">
                <a:solidFill>
                  <a:srgbClr val="FFFFFF"/>
                </a:solidFill>
                <a:latin typeface="Arial"/>
              </a:defRPr>
            </a:pPr>
            <a:r>
              <a:t>(In-Memory Deduplication)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5669280" y="2386584"/>
            <a:ext cx="137160" cy="137160"/>
          </a:xfrm>
          <a:prstGeom prst="downArrow">
            <a:avLst/>
          </a:prstGeom>
          <a:solidFill>
            <a:srgbClr val="1E2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937760" y="2542032"/>
            <a:ext cx="1645920" cy="438912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>
              <a:defRPr sz="850" b="1">
                <a:solidFill>
                  <a:srgbClr val="FFFFFF"/>
                </a:solidFill>
                <a:latin typeface="Arial"/>
              </a:defRPr>
            </a:pPr>
            <a:r>
              <a:t>Spatial Boundary Check</a:t>
            </a:r>
          </a:p>
          <a:p>
            <a:pPr algn="ctr">
              <a:defRPr sz="850" b="1">
                <a:solidFill>
                  <a:srgbClr val="FFFFFF"/>
                </a:solidFill>
                <a:latin typeface="Arial"/>
              </a:defRPr>
            </a:pPr>
            <a:r>
              <a:t>ESA 10m + OSM Refinery DB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5669280" y="2999232"/>
            <a:ext cx="137160" cy="137160"/>
          </a:xfrm>
          <a:prstGeom prst="downArrow">
            <a:avLst/>
          </a:prstGeom>
          <a:solidFill>
            <a:srgbClr val="1E2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4937760" y="3154680"/>
            <a:ext cx="1645920" cy="5029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>
              <a:defRPr sz="850" b="1">
                <a:solidFill>
                  <a:srgbClr val="FFFFFF"/>
                </a:solidFill>
                <a:latin typeface="Arial"/>
              </a:defRPr>
            </a:pPr>
            <a:r>
              <a:t>FRP Anomaly Ratio Engine</a:t>
            </a:r>
          </a:p>
          <a:p>
            <a:pPr algn="ctr">
              <a:defRPr sz="850" b="1">
                <a:solidFill>
                  <a:srgbClr val="FFFFFF"/>
                </a:solidFill>
                <a:latin typeface="Arial"/>
              </a:defRPr>
            </a:pPr>
            <a:r>
              <a:t>R = Observed / Baseline FRP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6611112" y="3310128"/>
            <a:ext cx="201168" cy="137160"/>
          </a:xfrm>
          <a:prstGeom prst="rightArrow">
            <a:avLst/>
          </a:prstGeom>
          <a:solidFill>
            <a:srgbClr val="1E2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858000" y="1371600"/>
            <a:ext cx="2194560" cy="1371600"/>
          </a:xfrm>
          <a:prstGeom prst="round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l">
              <a:defRPr sz="850" b="1">
                <a:solidFill>
                  <a:srgbClr val="FFFFFF"/>
                </a:solidFill>
                <a:latin typeface="Arial"/>
              </a:defRPr>
            </a:pPr>
            <a:r>
              <a:t>AI Threat Classifier</a:t>
            </a:r>
          </a:p>
          <a:p>
            <a:pPr algn="l">
              <a:defRPr sz="850" b="1">
                <a:solidFill>
                  <a:srgbClr val="FFFFFF"/>
                </a:solidFill>
                <a:latin typeface="Arial"/>
              </a:defRPr>
            </a:pPr>
            <a:r>
              <a:t>────────────────────</a:t>
            </a:r>
          </a:p>
          <a:p>
            <a:pPr algn="l">
              <a:defRPr sz="850" b="1">
                <a:solidFill>
                  <a:srgbClr val="FFFFFF"/>
                </a:solidFill>
                <a:latin typeface="Arial"/>
              </a:defRPr>
            </a:pPr>
            <a:r>
              <a:t>• Stubble / Wildfire (LULC Mask)</a:t>
            </a:r>
          </a:p>
          <a:p>
            <a:pPr algn="l">
              <a:defRPr sz="850" b="1">
                <a:solidFill>
                  <a:srgbClr val="FFFFFF"/>
                </a:solidFill>
                <a:latin typeface="Arial"/>
              </a:defRPr>
            </a:pPr>
            <a:r>
              <a:t>• Normal Flare (R ≤ 1.0 Baseline)</a:t>
            </a:r>
          </a:p>
          <a:p>
            <a:pPr algn="l">
              <a:defRPr sz="850" b="1">
                <a:solidFill>
                  <a:srgbClr val="FFFFFF"/>
                </a:solidFill>
                <a:latin typeface="Arial"/>
              </a:defRPr>
            </a:pPr>
            <a:r>
              <a:t>• Emergency Alert (R ≥ 2.2)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7863840" y="2761488"/>
            <a:ext cx="146304" cy="146304"/>
          </a:xfrm>
          <a:prstGeom prst="downArrow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858000" y="2926080"/>
            <a:ext cx="2194560" cy="731520"/>
          </a:xfrm>
          <a:prstGeom prst="round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>
              <a:defRPr sz="850" b="1">
                <a:solidFill>
                  <a:srgbClr val="FFFFFF"/>
                </a:solidFill>
                <a:latin typeface="Arial"/>
              </a:defRPr>
            </a:pPr>
            <a:r>
              <a:t>CRITICAL INDUSTRIAL EMERGENCY</a:t>
            </a:r>
          </a:p>
          <a:p>
            <a:pPr algn="ctr">
              <a:defRPr sz="850" b="1">
                <a:solidFill>
                  <a:srgbClr val="FFFFFF"/>
                </a:solidFill>
                <a:latin typeface="Arial"/>
              </a:defRPr>
            </a:pPr>
            <a:r>
              <a:t>(R ≥ 2.2x Baseline FRP Explosion)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9079992" y="3200400"/>
            <a:ext cx="201168" cy="137160"/>
          </a:xfrm>
          <a:prstGeom prst="rightArrow">
            <a:avLst/>
          </a:prstGeom>
          <a:solidFill>
            <a:srgbClr val="1E2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9326880" y="1371600"/>
            <a:ext cx="2286000" cy="4572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>
              <a:defRPr sz="850" b="1">
                <a:solidFill>
                  <a:srgbClr val="FFFFFF"/>
                </a:solidFill>
                <a:latin typeface="Arial"/>
              </a:defRPr>
            </a:pPr>
            <a:r>
              <a:t>Open-Meteo Weather API</a:t>
            </a:r>
          </a:p>
          <a:p>
            <a:pPr algn="ctr">
              <a:defRPr sz="850" b="1">
                <a:solidFill>
                  <a:srgbClr val="FFFFFF"/>
                </a:solidFill>
                <a:latin typeface="Arial"/>
              </a:defRPr>
            </a:pPr>
            <a:r>
              <a:t>Live 10m Wind Speed &amp; Direction</a:t>
            </a:r>
          </a:p>
        </p:txBody>
      </p:sp>
      <p:sp>
        <p:nvSpPr>
          <p:cNvPr id="22" name="Down Arrow 21"/>
          <p:cNvSpPr/>
          <p:nvPr/>
        </p:nvSpPr>
        <p:spPr>
          <a:xfrm>
            <a:off x="10378440" y="1847088"/>
            <a:ext cx="137160" cy="137160"/>
          </a:xfrm>
          <a:prstGeom prst="downArrow">
            <a:avLst/>
          </a:prstGeom>
          <a:solidFill>
            <a:srgbClr val="1E2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9326880" y="2002536"/>
            <a:ext cx="2286000" cy="594360"/>
          </a:xfrm>
          <a:prstGeom prst="round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>
              <a:defRPr sz="800" b="1">
                <a:solidFill>
                  <a:srgbClr val="FFFFFF"/>
                </a:solidFill>
                <a:latin typeface="Arial"/>
              </a:defRPr>
            </a:pPr>
            <a:r>
              <a:t>Gaussian Plume Engine</a:t>
            </a:r>
          </a:p>
          <a:p>
            <a:pPr algn="ctr">
              <a:defRPr sz="800" b="1">
                <a:solidFill>
                  <a:srgbClr val="FFFFFF"/>
                </a:solidFill>
                <a:latin typeface="Arial"/>
              </a:defRPr>
            </a:pPr>
            <a:r>
              <a:t>(Pasquill-Gifford Dispersion Model</a:t>
            </a:r>
          </a:p>
          <a:p>
            <a:pPr algn="ctr">
              <a:defRPr sz="800" b="1">
                <a:solidFill>
                  <a:srgbClr val="FFFFFF"/>
                </a:solidFill>
                <a:latin typeface="Arial"/>
              </a:defRPr>
            </a:pPr>
            <a:r>
              <a:t>3-Zone Toxic Hazard Corridors)</a:t>
            </a:r>
          </a:p>
        </p:txBody>
      </p:sp>
      <p:sp>
        <p:nvSpPr>
          <p:cNvPr id="24" name="Down Arrow 23"/>
          <p:cNvSpPr/>
          <p:nvPr/>
        </p:nvSpPr>
        <p:spPr>
          <a:xfrm>
            <a:off x="10378440" y="2615184"/>
            <a:ext cx="137160" cy="137160"/>
          </a:xfrm>
          <a:prstGeom prst="downArrow">
            <a:avLst/>
          </a:prstGeom>
          <a:solidFill>
            <a:srgbClr val="1E2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9326880" y="2770632"/>
            <a:ext cx="2286000" cy="886968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>
              <a:defRPr sz="850" b="1">
                <a:solidFill>
                  <a:srgbClr val="FFFFFF"/>
                </a:solidFill>
                <a:latin typeface="Arial"/>
              </a:defRPr>
            </a:pPr>
            <a:r>
              <a:t>RFC 7946 GeoJSON Alert</a:t>
            </a:r>
          </a:p>
          <a:p>
            <a:pPr algn="ctr">
              <a:defRPr sz="850" b="1">
                <a:solidFill>
                  <a:srgbClr val="FFFFFF"/>
                </a:solidFill>
                <a:latin typeface="Arial"/>
              </a:defRPr>
            </a:pPr>
            <a:r>
              <a:t>OSM Nominatim Geocoder</a:t>
            </a:r>
          </a:p>
          <a:p>
            <a:pPr algn="ctr">
              <a:defRPr sz="850" b="1">
                <a:solidFill>
                  <a:srgbClr val="FFFFFF"/>
                </a:solidFill>
                <a:latin typeface="Arial"/>
              </a:defRPr>
            </a:pPr>
            <a:r>
              <a:t>─────────────────────</a:t>
            </a:r>
          </a:p>
          <a:p>
            <a:pPr algn="ctr">
              <a:defRPr sz="850" b="1">
                <a:solidFill>
                  <a:srgbClr val="FFFFFF"/>
                </a:solidFill>
                <a:latin typeface="Arial"/>
              </a:defRPr>
            </a:pPr>
            <a:r>
              <a:t>React 18 + Leaflet GIS Dashboard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754880" y="4526280"/>
            <a:ext cx="3383280" cy="17373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10549B"/>
                </a:solidFill>
                <a:latin typeface="Arial"/>
              </a:defRPr>
            </a:pPr>
            <a:r>
              <a:t>3 LAYER APPROACH</a:t>
            </a:r>
          </a:p>
          <a:p>
            <a:pPr>
              <a:spcAft>
                <a:spcPts val="300"/>
              </a:spcAft>
              <a:defRPr sz="950" b="1">
                <a:solidFill>
                  <a:srgbClr val="1E2837"/>
                </a:solidFill>
                <a:latin typeface="Arial"/>
              </a:defRPr>
            </a:pPr>
            <a:r>
              <a:t>■ Layer 3: Dynamic Plume &amp; GIS Overlays</a:t>
            </a:r>
          </a:p>
          <a:p>
            <a:pPr>
              <a:spcAft>
                <a:spcPts val="300"/>
              </a:spcAft>
              <a:defRPr sz="950" b="1">
                <a:solidFill>
                  <a:srgbClr val="1E2837"/>
                </a:solidFill>
                <a:latin typeface="Arial"/>
              </a:defRPr>
            </a:pPr>
            <a:r>
              <a:t>■ Layer 2: OSM Baseline &amp; FRP Anomaly Ratios</a:t>
            </a:r>
          </a:p>
          <a:p>
            <a:pPr>
              <a:spcAft>
                <a:spcPts val="300"/>
              </a:spcAft>
              <a:defRPr sz="950" b="1">
                <a:solidFill>
                  <a:srgbClr val="1E2837"/>
                </a:solidFill>
                <a:latin typeface="Arial"/>
              </a:defRPr>
            </a:pPr>
            <a:r>
              <a:t>■ Layer 1: NASA FIRMS Thermal Satellite Sensor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321040" y="4526280"/>
            <a:ext cx="3474720" cy="173736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1054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tlCol="0" anchor="ctr"/>
          <a:lstStyle/>
          <a:p>
            <a:pPr algn="ctr">
              <a:spcAft>
                <a:spcPts val="400"/>
              </a:spcAft>
              <a:defRPr sz="1200" b="1">
                <a:solidFill>
                  <a:srgbClr val="10549B"/>
                </a:solidFill>
                <a:latin typeface="Arial"/>
              </a:defRPr>
            </a:pPr>
            <a:r>
              <a:t>GitHub Link &amp; Prototype Status</a:t>
            </a:r>
          </a:p>
          <a:p>
            <a:pPr>
              <a:spcAft>
                <a:spcPts val="400"/>
              </a:spcAft>
              <a:defRPr sz="900">
                <a:solidFill>
                  <a:srgbClr val="1E2837"/>
                </a:solidFill>
                <a:latin typeface="Arial"/>
              </a:defRPr>
            </a:pPr>
            <a:r>
              <a:t>GitHub Repository:</a:t>
            </a:r>
            <a:br/>
            <a:r>
              <a:t>https://github.com/vamshi-2705/AGNIDRISHTI.git</a:t>
            </a:r>
          </a:p>
          <a:p>
            <a:pPr>
              <a:defRPr sz="1050" b="1">
                <a:solidFill>
                  <a:srgbClr val="DC2626"/>
                </a:solidFill>
                <a:latin typeface="Arial"/>
              </a:defRPr>
            </a:pPr>
            <a:r>
              <a:t>100% of the full-stack working prototype is completed and verified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365760" y="182880"/>
            <a:ext cx="1463040" cy="7315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E28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1E2837"/>
                </a:solidFill>
                <a:latin typeface="Georgia"/>
              </a:defRPr>
            </a:pPr>
            <a:r>
              <a:t>Helix House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11680" y="22860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E2837"/>
                </a:solidFill>
                <a:latin typeface="Times New Roman"/>
              </a:defRPr>
            </a:pPr>
            <a:r>
              <a:t>FEASIBILITY AND VIABILITY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137160"/>
            <a:ext cx="2011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10549B"/>
                </a:solidFill>
                <a:latin typeface="Arial"/>
              </a:defRPr>
            </a:pPr>
            <a:r>
              <a:t>SMART INDIA</a:t>
            </a:r>
          </a:p>
          <a:p>
            <a:pPr algn="r">
              <a:defRPr sz="1200" b="1">
                <a:solidFill>
                  <a:srgbClr val="10549B"/>
                </a:solidFill>
                <a:latin typeface="Arial"/>
              </a:defRPr>
            </a:pPr>
            <a:r>
              <a:t>HACKATHON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07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000">
                <a:solidFill>
                  <a:srgbClr val="FFFFFF"/>
                </a:solidFill>
                <a:latin typeface="Arial"/>
              </a:defRPr>
            </a:pPr>
            <a:r>
              <a:t>@SIH Idea submission- Template                                                                                                                                           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05840"/>
            <a:ext cx="5577840" cy="2560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tlCol="0" anchor="ctr"/>
          <a:lstStyle/>
          <a:p>
            <a:pPr algn="ctr">
              <a:spcAft>
                <a:spcPts val="600"/>
              </a:spcAft>
              <a:defRPr sz="1600" b="1">
                <a:solidFill>
                  <a:srgbClr val="10549B"/>
                </a:solidFill>
                <a:latin typeface="Arial"/>
              </a:defRPr>
            </a:pPr>
            <a:r>
              <a:t>Feasibility</a:t>
            </a:r>
          </a:p>
          <a:p>
            <a:pPr>
              <a:spcAft>
                <a:spcPts val="300"/>
              </a:spcAft>
              <a:defRPr sz="1050">
                <a:solidFill>
                  <a:srgbClr val="1E2837"/>
                </a:solidFill>
                <a:latin typeface="Arial"/>
              </a:defRPr>
            </a:pPr>
            <a:r>
              <a:t>• Zero early hardware dependency: Built on free public satellite streams (NASA FIRMS) and open GIS infrastructure.</a:t>
            </a:r>
          </a:p>
          <a:p>
            <a:pPr>
              <a:spcAft>
                <a:spcPts val="300"/>
              </a:spcAft>
              <a:defRPr sz="1050">
                <a:solidFill>
                  <a:srgbClr val="1E2837"/>
                </a:solidFill>
                <a:latin typeface="Arial"/>
              </a:defRPr>
            </a:pPr>
            <a:r>
              <a:t>• Converts raw satellite thermal telemetry into actionable GIS overlays for emergency dispatchers.</a:t>
            </a:r>
          </a:p>
          <a:p>
            <a:pPr>
              <a:spcAft>
                <a:spcPts val="300"/>
              </a:spcAft>
              <a:defRPr sz="1050">
                <a:solidFill>
                  <a:srgbClr val="1E2837"/>
                </a:solidFill>
                <a:latin typeface="Arial"/>
              </a:defRPr>
            </a:pPr>
            <a:r>
              <a:t>• Validation with official datasets: Validated against verified historical baselines for major Indian refining complexes.</a:t>
            </a:r>
          </a:p>
          <a:p>
            <a:pPr>
              <a:spcAft>
                <a:spcPts val="300"/>
              </a:spcAft>
              <a:defRPr sz="1050">
                <a:solidFill>
                  <a:srgbClr val="1E2837"/>
                </a:solidFill>
                <a:latin typeface="Arial"/>
              </a:defRPr>
            </a:pPr>
            <a:r>
              <a:t>• Safe testing environment: API simulation allows AI algorithms to be trained for any weather condition before real-time deployment.</a:t>
            </a:r>
          </a:p>
          <a:p>
            <a:pPr>
              <a:spcAft>
                <a:spcPts val="300"/>
              </a:spcAft>
              <a:defRPr sz="1050">
                <a:solidFill>
                  <a:srgbClr val="1E2837"/>
                </a:solidFill>
                <a:latin typeface="Arial"/>
              </a:defRPr>
            </a:pPr>
            <a:r>
              <a:t>• Algorithm flexibility: Modular microservice architecture allows seamless scaling across future satellite constellations.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005840"/>
            <a:ext cx="5669280" cy="2560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tlCol="0" anchor="ctr"/>
          <a:lstStyle/>
          <a:p>
            <a:pPr algn="ctr">
              <a:spcAft>
                <a:spcPts val="600"/>
              </a:spcAft>
              <a:defRPr sz="1600" b="1">
                <a:solidFill>
                  <a:srgbClr val="10549B"/>
                </a:solidFill>
                <a:latin typeface="Arial"/>
              </a:defRPr>
            </a:pPr>
            <a:r>
              <a:t>Commercial feasibility</a:t>
            </a:r>
          </a:p>
          <a:p>
            <a:pPr>
              <a:spcAft>
                <a:spcPts val="400"/>
              </a:spcAft>
              <a:defRPr sz="1100">
                <a:solidFill>
                  <a:srgbClr val="1E2837"/>
                </a:solidFill>
                <a:latin typeface="Arial"/>
              </a:defRPr>
            </a:pPr>
            <a:r>
              <a:t>• Market Validation: Growing demand from defense (NTRO), disaster management (NDRF), and industrial safety boards.</a:t>
            </a:r>
          </a:p>
          <a:p>
            <a:pPr>
              <a:spcAft>
                <a:spcPts val="400"/>
              </a:spcAft>
              <a:defRPr sz="1100">
                <a:solidFill>
                  <a:srgbClr val="1E2837"/>
                </a:solidFill>
                <a:latin typeface="Arial"/>
              </a:defRPr>
            </a:pPr>
            <a:r>
              <a:t>• Technical Readiness: ~95% feasible using live satellite APIs and verified historical facility FRP baselines.</a:t>
            </a:r>
          </a:p>
          <a:p>
            <a:pPr>
              <a:spcAft>
                <a:spcPts val="400"/>
              </a:spcAft>
              <a:defRPr sz="1100">
                <a:solidFill>
                  <a:srgbClr val="1E2837"/>
                </a:solidFill>
                <a:latin typeface="Arial"/>
              </a:defRPr>
            </a:pPr>
            <a:r>
              <a:t>• Timeline: 100% full-stack working prototype completed, featuring live REST endpoints and interactive Leaflet GIS dashboard.</a:t>
            </a:r>
          </a:p>
          <a:p>
            <a:pPr>
              <a:spcAft>
                <a:spcPts val="400"/>
              </a:spcAft>
              <a:defRPr sz="1100">
                <a:solidFill>
                  <a:srgbClr val="1E2837"/>
                </a:solidFill>
                <a:latin typeface="Arial"/>
              </a:defRPr>
            </a:pPr>
            <a:r>
              <a:t>• Success Likelihood: High (~95%) due to robust fallback logic, 300s stream caching, and 100% test coverage.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3703320"/>
            <a:ext cx="5577840" cy="2560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tlCol="0" anchor="ctr"/>
          <a:lstStyle/>
          <a:p>
            <a:pPr algn="ctr">
              <a:spcAft>
                <a:spcPts val="600"/>
              </a:spcAft>
              <a:defRPr sz="1600" b="1">
                <a:solidFill>
                  <a:srgbClr val="DC2626"/>
                </a:solidFill>
                <a:latin typeface="Arial"/>
              </a:defRPr>
            </a:pPr>
            <a:r>
              <a:t>Challenges</a:t>
            </a:r>
          </a:p>
          <a:p>
            <a:pPr>
              <a:spcAft>
                <a:spcPts val="400"/>
              </a:spcAft>
              <a:defRPr sz="1100">
                <a:solidFill>
                  <a:srgbClr val="1E2837"/>
                </a:solidFill>
                <a:latin typeface="Arial"/>
              </a:defRPr>
            </a:pPr>
            <a:r>
              <a:t>• Fast-moving satellite passes cause 12-hour revisit gaps between thermal infrared satellite observations.</a:t>
            </a:r>
          </a:p>
          <a:p>
            <a:pPr>
              <a:spcAft>
                <a:spcPts val="400"/>
              </a:spcAft>
              <a:defRPr sz="1100">
                <a:solidFill>
                  <a:srgbClr val="1E2837"/>
                </a:solidFill>
                <a:latin typeface="Arial"/>
              </a:defRPr>
            </a:pPr>
            <a:r>
              <a:t>• Heavy cloud cover and smoke plumes temporarily obscuring ground-level thermal sensors.</a:t>
            </a:r>
          </a:p>
          <a:p>
            <a:pPr>
              <a:spcAft>
                <a:spcPts val="400"/>
              </a:spcAft>
              <a:defRPr sz="1100">
                <a:solidFill>
                  <a:srgbClr val="1E2837"/>
                </a:solidFill>
                <a:latin typeface="Arial"/>
              </a:defRPr>
            </a:pPr>
            <a:r>
              <a:t>• High-density spatial queries consume memory during peak multi-fire regional outbreaks.</a:t>
            </a:r>
          </a:p>
          <a:p>
            <a:pPr>
              <a:spcAft>
                <a:spcPts val="400"/>
              </a:spcAft>
              <a:defRPr sz="1100">
                <a:solidFill>
                  <a:srgbClr val="1E2837"/>
                </a:solidFill>
                <a:latin typeface="Arial"/>
              </a:defRPr>
            </a:pPr>
            <a:r>
              <a:t>• Satellite thermal coordinates can exhibit up to 375m spatial offset in dense urban-industrial complexes.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3703320"/>
            <a:ext cx="5669280" cy="2560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tlCol="0" anchor="ctr"/>
          <a:lstStyle/>
          <a:p>
            <a:pPr algn="ctr">
              <a:spcAft>
                <a:spcPts val="600"/>
              </a:spcAft>
              <a:defRPr sz="1600" b="1">
                <a:solidFill>
                  <a:srgbClr val="10549B"/>
                </a:solidFill>
                <a:latin typeface="Arial"/>
              </a:defRPr>
            </a:pPr>
            <a:r>
              <a:t>Strategy:</a:t>
            </a:r>
          </a:p>
          <a:p>
            <a:pPr>
              <a:spcAft>
                <a:spcPts val="400"/>
              </a:spcAft>
              <a:defRPr sz="1100">
                <a:solidFill>
                  <a:srgbClr val="1E2837"/>
                </a:solidFill>
                <a:latin typeface="Arial"/>
              </a:defRPr>
            </a:pPr>
            <a:r>
              <a:t>• Multi-constellation satellite fusion merging VIIRS (Suomi-NPP + NOAA-20) with MODIS (Terra + Aqua) streams.</a:t>
            </a:r>
          </a:p>
          <a:p>
            <a:pPr>
              <a:spcAft>
                <a:spcPts val="400"/>
              </a:spcAft>
              <a:defRPr sz="1100">
                <a:solidFill>
                  <a:srgbClr val="1E2837"/>
                </a:solidFill>
                <a:latin typeface="Arial"/>
              </a:defRPr>
            </a:pPr>
            <a:r>
              <a:t>• In-memory spatial index &amp; pre-cached bounding polygons for major Indian refineries, eliminating API latency.</a:t>
            </a:r>
          </a:p>
          <a:p>
            <a:pPr>
              <a:spcAft>
                <a:spcPts val="400"/>
              </a:spcAft>
              <a:defRPr sz="1100">
                <a:solidFill>
                  <a:srgbClr val="1E2837"/>
                </a:solidFill>
                <a:latin typeface="Arial"/>
              </a:defRPr>
            </a:pPr>
            <a:r>
              <a:t>• Edge-optimized Python algorithms on fast ASGI servers, dynamic task scheduling, and energy-efficient processing.</a:t>
            </a:r>
          </a:p>
          <a:p>
            <a:pPr>
              <a:spcAft>
                <a:spcPts val="400"/>
              </a:spcAft>
              <a:defRPr sz="1100">
                <a:solidFill>
                  <a:srgbClr val="1E2837"/>
                </a:solidFill>
                <a:latin typeface="Arial"/>
              </a:defRPr>
            </a:pPr>
            <a:r>
              <a:t>• Fuse satellite thermal, wind, and LULC data; implement Gaussian plume dispersion modeling to project downwind hazard zones.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365760" y="182880"/>
            <a:ext cx="1463040" cy="7315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E28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1E2837"/>
                </a:solidFill>
                <a:latin typeface="Georgia"/>
              </a:defRPr>
            </a:pPr>
            <a:r>
              <a:t>Helix House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11680" y="22860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E2837"/>
                </a:solidFill>
                <a:latin typeface="Times New Roman"/>
              </a:defRPr>
            </a:pPr>
            <a:r>
              <a:t>IMPACT AND BENEFITS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137160"/>
            <a:ext cx="2011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10549B"/>
                </a:solidFill>
                <a:latin typeface="Arial"/>
              </a:defRPr>
            </a:pPr>
            <a:r>
              <a:t>SMART INDIA</a:t>
            </a:r>
          </a:p>
          <a:p>
            <a:pPr algn="r">
              <a:defRPr sz="1200" b="1">
                <a:solidFill>
                  <a:srgbClr val="10549B"/>
                </a:solidFill>
                <a:latin typeface="Arial"/>
              </a:defRPr>
            </a:pPr>
            <a:r>
              <a:t>HACKATHON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07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000">
                <a:solidFill>
                  <a:srgbClr val="FFFFFF"/>
                </a:solidFill>
                <a:latin typeface="Arial"/>
              </a:defRPr>
            </a:pPr>
            <a:r>
              <a:t>@SIH Idea submission- Template                                                                                                                                           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05840"/>
            <a:ext cx="5577840" cy="2560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tlCol="0" anchor="ctr"/>
          <a:lstStyle/>
          <a:p>
            <a:pPr algn="ctr">
              <a:spcAft>
                <a:spcPts val="600"/>
              </a:spcAft>
              <a:defRPr sz="1600" b="1">
                <a:solidFill>
                  <a:srgbClr val="10549B"/>
                </a:solidFill>
                <a:latin typeface="Arial"/>
              </a:defRPr>
            </a:pPr>
            <a:r>
              <a:t>Direct Impact on Target Users</a:t>
            </a:r>
          </a:p>
          <a:p>
            <a:pPr>
              <a:spcAft>
                <a:spcPts val="300"/>
              </a:spcAft>
              <a:defRPr sz="1050">
                <a:solidFill>
                  <a:srgbClr val="1E2837"/>
                </a:solidFill>
                <a:latin typeface="Arial"/>
              </a:defRPr>
            </a:pPr>
            <a:r>
              <a:t>• Defense &amp; Security Forces (NTRO): Enables resilient thermal surveillance in high-noise environments by eliminating ~90% false alarms.</a:t>
            </a:r>
          </a:p>
          <a:p>
            <a:pPr>
              <a:spcAft>
                <a:spcPts val="300"/>
              </a:spcAft>
              <a:defRPr sz="1050">
                <a:solidFill>
                  <a:srgbClr val="1E2837"/>
                </a:solidFill>
                <a:latin typeface="Arial"/>
              </a:defRPr>
            </a:pPr>
            <a:r>
              <a:t>• Disaster Response Teams (NDRF/SDRF): Provides ~85% faster rescue &amp; evacuation planning (&lt;3 mins vs 2 hours).</a:t>
            </a:r>
          </a:p>
          <a:p>
            <a:pPr>
              <a:spcAft>
                <a:spcPts val="300"/>
              </a:spcAft>
              <a:defRPr sz="1050">
                <a:solidFill>
                  <a:srgbClr val="1E2837"/>
                </a:solidFill>
                <a:latin typeface="Arial"/>
              </a:defRPr>
            </a:pPr>
            <a:r>
              <a:t>• Rural &amp; Industrial India: Ensures accurate emergency location resolution down to village and taluka administrative boundaries.</a:t>
            </a:r>
          </a:p>
          <a:p>
            <a:pPr>
              <a:spcAft>
                <a:spcPts val="300"/>
              </a:spcAft>
              <a:defRPr sz="1050">
                <a:solidFill>
                  <a:srgbClr val="1E2837"/>
                </a:solidFill>
                <a:latin typeface="Arial"/>
              </a:defRPr>
            </a:pPr>
            <a:r>
              <a:t>• Transport &amp; Logistics (Rail, Ports, Highways): Ensures reliable routing away from downwind toxic gas corridors.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3703320"/>
            <a:ext cx="5577840" cy="2560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tlCol="0" anchor="ctr"/>
          <a:lstStyle/>
          <a:p>
            <a:pPr algn="ctr">
              <a:spcAft>
                <a:spcPts val="600"/>
              </a:spcAft>
              <a:defRPr sz="1600" b="1">
                <a:solidFill>
                  <a:srgbClr val="10549B"/>
                </a:solidFill>
                <a:latin typeface="Arial"/>
              </a:defRPr>
            </a:pPr>
            <a:r>
              <a:t>Strategic Impact</a:t>
            </a:r>
          </a:p>
          <a:p>
            <a:pPr>
              <a:spcAft>
                <a:spcPts val="400"/>
              </a:spcAft>
              <a:defRPr sz="1100">
                <a:solidFill>
                  <a:srgbClr val="1E2837"/>
                </a:solidFill>
                <a:latin typeface="Arial"/>
              </a:defRPr>
            </a:pPr>
            <a:r>
              <a:t>• Offers flare-independent thermal surveillance, highly resilient to agricultural noise, flaring ambiguity, and false alarms.</a:t>
            </a:r>
          </a:p>
          <a:p>
            <a:pPr>
              <a:spcAft>
                <a:spcPts val="400"/>
              </a:spcAft>
              <a:defRPr sz="1100">
                <a:solidFill>
                  <a:srgbClr val="1E2837"/>
                </a:solidFill>
                <a:latin typeface="Arial"/>
              </a:defRPr>
            </a:pPr>
            <a:r>
              <a:t>• Strengthens India's autonomy in defense intelligence, disaster response, rural safety, and spatial technology.</a:t>
            </a:r>
          </a:p>
          <a:p>
            <a:pPr>
              <a:spcAft>
                <a:spcPts val="400"/>
              </a:spcAft>
              <a:defRPr sz="1100">
                <a:solidFill>
                  <a:srgbClr val="1E2837"/>
                </a:solidFill>
                <a:latin typeface="Arial"/>
              </a:defRPr>
            </a:pPr>
            <a:r>
              <a:t>• Impact: Contributes to Atmanirbhar Bharat by establishing indigenous AI disaster surveillance capability for national security.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005840"/>
            <a:ext cx="5669280" cy="2560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tlCol="0" anchor="ctr"/>
          <a:lstStyle/>
          <a:p>
            <a:pPr algn="ctr">
              <a:spcAft>
                <a:spcPts val="600"/>
              </a:spcAft>
              <a:defRPr sz="1600" b="1">
                <a:solidFill>
                  <a:srgbClr val="10549B"/>
                </a:solidFill>
                <a:latin typeface="Arial"/>
              </a:defRPr>
            </a:pPr>
            <a:r>
              <a:t>Economic &amp; Strategic Benefits</a:t>
            </a:r>
          </a:p>
          <a:p>
            <a:pPr>
              <a:spcAft>
                <a:spcPts val="400"/>
              </a:spcAft>
              <a:defRPr sz="1100">
                <a:solidFill>
                  <a:srgbClr val="1E2837"/>
                </a:solidFill>
                <a:latin typeface="Arial"/>
              </a:defRPr>
            </a:pPr>
            <a:r>
              <a:t>• Reduces software licensing/import costs by 100%, promoting indigenous geospatial AI development.</a:t>
            </a:r>
          </a:p>
          <a:p>
            <a:pPr>
              <a:spcAft>
                <a:spcPts val="400"/>
              </a:spcAft>
              <a:defRPr sz="1100">
                <a:solidFill>
                  <a:srgbClr val="1E2837"/>
                </a:solidFill>
                <a:latin typeface="Arial"/>
              </a:defRPr>
            </a:pPr>
            <a:r>
              <a:t>• ₹3,200 crore total addressable market by 2030 in defense, logistics, and disaster management sectors.</a:t>
            </a:r>
          </a:p>
          <a:p>
            <a:pPr>
              <a:spcAft>
                <a:spcPts val="400"/>
              </a:spcAft>
              <a:defRPr sz="1100">
                <a:solidFill>
                  <a:srgbClr val="1E2837"/>
                </a:solidFill>
                <a:latin typeface="Arial"/>
              </a:defRPr>
            </a:pPr>
            <a:r>
              <a:t>• Superior cost effectiveness over traditional surveillance systems through AI-enabled spatial efficiency.</a:t>
            </a:r>
          </a:p>
          <a:p>
            <a:pPr>
              <a:spcAft>
                <a:spcPts val="400"/>
              </a:spcAft>
              <a:defRPr sz="1100">
                <a:solidFill>
                  <a:srgbClr val="1E2837"/>
                </a:solidFill>
                <a:latin typeface="Arial"/>
              </a:defRPr>
            </a:pPr>
            <a:r>
              <a:t>• Encourages public-private partnerships (PPP) for scalable Indian disaster management technology.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3703320"/>
            <a:ext cx="5669280" cy="256032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1054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tlCol="0" anchor="ctr"/>
          <a:lstStyle/>
          <a:p>
            <a:pPr algn="ctr">
              <a:spcAft>
                <a:spcPts val="800"/>
              </a:spcAft>
              <a:defRPr sz="1400" b="1">
                <a:solidFill>
                  <a:srgbClr val="10549B"/>
                </a:solidFill>
                <a:latin typeface="Arial"/>
              </a:defRPr>
            </a:pPr>
            <a:r>
              <a:t>Industrial Fire Incidents &amp; Response Speedup Benchmark</a:t>
            </a:r>
          </a:p>
          <a:p>
            <a:pPr>
              <a:spcAft>
                <a:spcPts val="300"/>
              </a:spcAft>
              <a:defRPr sz="1000" b="1">
                <a:solidFill>
                  <a:srgbClr val="1E2837"/>
                </a:solidFill>
                <a:latin typeface="Courier New"/>
              </a:defRPr>
            </a:pPr>
            <a:r>
              <a:t>Traditional Manual Verification: 45 - 90 Mins  (High Noise ~75%)</a:t>
            </a:r>
          </a:p>
          <a:p>
            <a:pPr>
              <a:spcAft>
                <a:spcPts val="300"/>
              </a:spcAft>
              <a:defRPr sz="1000" b="1">
                <a:solidFill>
                  <a:srgbClr val="DC2626"/>
                </a:solidFill>
                <a:latin typeface="Courier New"/>
              </a:defRPr>
            </a:pPr>
            <a:r>
              <a:t>AGNIDRISHTI AI Platform:        &lt;300 Milliseconds (&gt;99% Faster)</a:t>
            </a:r>
          </a:p>
          <a:p>
            <a:pPr>
              <a:spcAft>
                <a:spcPts val="300"/>
              </a:spcAft>
              <a:defRPr sz="1000" b="1">
                <a:solidFill>
                  <a:srgbClr val="1E2837"/>
                </a:solidFill>
                <a:latin typeface="Courier New"/>
              </a:defRPr>
            </a:pPr>
            <a:r>
              <a:t>-----------------------------------------------------------------</a:t>
            </a:r>
          </a:p>
          <a:p>
            <a:pPr>
              <a:spcAft>
                <a:spcPts val="300"/>
              </a:spcAft>
              <a:defRPr sz="1000" b="1">
                <a:solidFill>
                  <a:srgbClr val="1E2837"/>
                </a:solidFill>
                <a:latin typeface="Courier New"/>
              </a:defRPr>
            </a:pPr>
            <a:r>
              <a:t>Evacuation Decision Window:    Reduced from 2 Hours to &lt;3 Minutes</a:t>
            </a:r>
          </a:p>
          <a:p>
            <a:pPr>
              <a:spcAft>
                <a:spcPts val="300"/>
              </a:spcAft>
              <a:defRPr sz="1000" b="1">
                <a:solidFill>
                  <a:srgbClr val="DC2626"/>
                </a:solidFill>
                <a:latin typeface="Courier New"/>
              </a:defRPr>
            </a:pPr>
            <a:r>
              <a:t>Test Suite Status:              11/11 Automated Tests Passed (100%)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365760" y="182880"/>
            <a:ext cx="1463040" cy="7315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E28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1E2837"/>
                </a:solidFill>
                <a:latin typeface="Georgia"/>
              </a:defRPr>
            </a:pPr>
            <a:r>
              <a:t>Helix House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11680" y="22860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E2837"/>
                </a:solidFill>
                <a:latin typeface="Times New Roman"/>
              </a:defRPr>
            </a:pPr>
            <a:r>
              <a:t>Research and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137160"/>
            <a:ext cx="2011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10549B"/>
                </a:solidFill>
                <a:latin typeface="Arial"/>
              </a:defRPr>
            </a:pPr>
            <a:r>
              <a:t>SMART INDIA</a:t>
            </a:r>
          </a:p>
          <a:p>
            <a:pPr algn="r">
              <a:defRPr sz="1200" b="1">
                <a:solidFill>
                  <a:srgbClr val="10549B"/>
                </a:solidFill>
                <a:latin typeface="Arial"/>
              </a:defRPr>
            </a:pPr>
            <a:r>
              <a:t>HACKATHON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07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000">
                <a:solidFill>
                  <a:srgbClr val="FFFFFF"/>
                </a:solidFill>
                <a:latin typeface="Arial"/>
              </a:defRPr>
            </a:pPr>
            <a:r>
              <a:t>@SIH Idea submission- Template                                                                                                                                           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05840"/>
            <a:ext cx="5577840" cy="16459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10549B"/>
                </a:solidFill>
                <a:latin typeface="Arial"/>
              </a:defRPr>
            </a:pPr>
            <a:r>
              <a:t>Gap &amp; Problem Identification</a:t>
            </a:r>
          </a:p>
          <a:p>
            <a:pPr>
              <a:spcAft>
                <a:spcPts val="300"/>
              </a:spcAft>
              <a:defRPr sz="950">
                <a:solidFill>
                  <a:srgbClr val="1E2837"/>
                </a:solidFill>
                <a:latin typeface="Arial"/>
              </a:defRPr>
            </a:pPr>
            <a:r>
              <a:t>• Quote recent studies documenting the rise in industrial fire incidents in Indian context. link</a:t>
            </a:r>
          </a:p>
          <a:p>
            <a:pPr>
              <a:spcAft>
                <a:spcPts val="300"/>
              </a:spcAft>
              <a:defRPr sz="950">
                <a:solidFill>
                  <a:srgbClr val="1E2837"/>
                </a:solidFill>
                <a:latin typeface="Arial"/>
              </a:defRPr>
            </a:pPr>
            <a:r>
              <a:t>• Show comparative performance of raw satellite alerts vs baseline AI filters in denied environments. link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005840"/>
            <a:ext cx="5669280" cy="16459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10549B"/>
                </a:solidFill>
                <a:latin typeface="Arial"/>
              </a:defRPr>
            </a:pPr>
            <a:r>
              <a:t>Economic &amp; Strategic Landscape</a:t>
            </a:r>
          </a:p>
          <a:p>
            <a:pPr>
              <a:spcAft>
                <a:spcPts val="300"/>
              </a:spcAft>
              <a:defRPr sz="950">
                <a:solidFill>
                  <a:srgbClr val="1E2837"/>
                </a:solidFill>
                <a:latin typeface="Arial"/>
              </a:defRPr>
            </a:pPr>
            <a:r>
              <a:t>• Market forecasts: cite projected growth of India's geospatial AI sector and expected impacts on defense. link 1 link 2</a:t>
            </a:r>
          </a:p>
          <a:p>
            <a:pPr>
              <a:spcAft>
                <a:spcPts val="300"/>
              </a:spcAft>
              <a:defRPr sz="950">
                <a:solidFill>
                  <a:srgbClr val="1E2837"/>
                </a:solidFill>
                <a:latin typeface="Arial"/>
              </a:defRPr>
            </a:pPr>
            <a:r>
              <a:t>• Demonstrate 100% cost reduction in software acquisition by leveraging open satellite telemetry. link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2743200"/>
            <a:ext cx="5577840" cy="16459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10549B"/>
                </a:solidFill>
                <a:latin typeface="Arial"/>
              </a:defRPr>
            </a:pPr>
            <a:r>
              <a:t>Literature Survey &amp; Competitive Analysis</a:t>
            </a:r>
          </a:p>
          <a:p>
            <a:pPr>
              <a:spcAft>
                <a:spcPts val="300"/>
              </a:spcAft>
              <a:defRPr sz="950">
                <a:solidFill>
                  <a:srgbClr val="1E2837"/>
                </a:solidFill>
                <a:latin typeface="Arial"/>
              </a:defRPr>
            </a:pPr>
            <a:r>
              <a:t>• Summarize latest global research on Fire Radiative Power (FRP) flaring baselines (Wooster et al.). link 1 link 2</a:t>
            </a:r>
          </a:p>
          <a:p>
            <a:pPr>
              <a:spcAft>
                <a:spcPts val="300"/>
              </a:spcAft>
              <a:defRPr sz="950">
                <a:solidFill>
                  <a:srgbClr val="1E2837"/>
                </a:solidFill>
                <a:latin typeface="Arial"/>
              </a:defRPr>
            </a:pPr>
            <a:r>
              <a:t>• Present findings from peer-reviewed experiments comparing FIRMS, LULC, and Gaussian plume modeling. link 1 link 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2743200"/>
            <a:ext cx="5669280" cy="16459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10549B"/>
                </a:solidFill>
                <a:latin typeface="Arial"/>
              </a:defRPr>
            </a:pPr>
            <a:r>
              <a:t>Field Tests &amp; Simulation Results</a:t>
            </a:r>
          </a:p>
          <a:p>
            <a:pPr>
              <a:spcAft>
                <a:spcPts val="300"/>
              </a:spcAft>
              <a:defRPr sz="950">
                <a:solidFill>
                  <a:srgbClr val="1E2837"/>
                </a:solidFill>
                <a:latin typeface="Arial"/>
              </a:defRPr>
            </a:pPr>
            <a:r>
              <a:t>• Include results from simulation tests (e.g., 85% improvement in rescue evacuation mapping time). link</a:t>
            </a:r>
          </a:p>
          <a:p>
            <a:pPr>
              <a:spcAft>
                <a:spcPts val="300"/>
              </a:spcAft>
              <a:defRPr sz="950">
                <a:solidFill>
                  <a:srgbClr val="1E2837"/>
                </a:solidFill>
                <a:latin typeface="Arial"/>
              </a:defRPr>
            </a:pPr>
            <a:r>
              <a:t>• Reference international proof-of-concept studies showing plume dispersion models tested on live refineries. link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4480560"/>
            <a:ext cx="5577840" cy="17373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10549B"/>
                </a:solidFill>
                <a:latin typeface="Arial"/>
              </a:defRPr>
            </a:pPr>
            <a:r>
              <a:t>Technology Benchmarking</a:t>
            </a:r>
          </a:p>
          <a:p>
            <a:pPr>
              <a:spcAft>
                <a:spcPts val="300"/>
              </a:spcAft>
              <a:defRPr sz="950">
                <a:solidFill>
                  <a:srgbClr val="1E2837"/>
                </a:solidFill>
                <a:latin typeface="Arial"/>
              </a:defRPr>
            </a:pPr>
            <a:r>
              <a:t>• Compare accuracy, latency, and coverage of raw NASA FIRMS vs AGNIDRISHTI baseline AI engine. link</a:t>
            </a:r>
          </a:p>
          <a:p>
            <a:pPr>
              <a:spcAft>
                <a:spcPts val="300"/>
              </a:spcAft>
              <a:defRPr sz="950">
                <a:solidFill>
                  <a:srgbClr val="1E2837"/>
                </a:solidFill>
                <a:latin typeface="Arial"/>
              </a:defRPr>
            </a:pPr>
            <a:r>
              <a:t>• Highlight integration of AI-driven anomaly algorithms and multi-sensor fusion for threat verification. link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4480560"/>
            <a:ext cx="5669280" cy="17373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10549B"/>
                </a:solidFill>
                <a:latin typeface="Arial"/>
              </a:defRPr>
            </a:pPr>
            <a:r>
              <a:t>Policy &amp; Ecosystem Analysis</a:t>
            </a:r>
          </a:p>
          <a:p>
            <a:pPr>
              <a:spcAft>
                <a:spcPts val="300"/>
              </a:spcAft>
              <a:defRPr sz="950">
                <a:solidFill>
                  <a:srgbClr val="1E2837"/>
                </a:solidFill>
                <a:latin typeface="Arial"/>
              </a:defRPr>
            </a:pPr>
            <a:r>
              <a:t>• Mention government initiatives for disaster management (NDMA, NDMP 2019), indigenous AI frameworks. link</a:t>
            </a:r>
          </a:p>
          <a:p>
            <a:pPr>
              <a:spcAft>
                <a:spcPts val="300"/>
              </a:spcAft>
              <a:defRPr sz="950">
                <a:solidFill>
                  <a:srgbClr val="1E2837"/>
                </a:solidFill>
                <a:latin typeface="Arial"/>
              </a:defRPr>
            </a:pPr>
            <a:r>
              <a:t>• Highlight alignment with Atmanirbhar Bharat defense geospatial mandates. link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1561</Words>
  <Application>Microsoft Office PowerPoint</Application>
  <PresentationFormat>Widescreen</PresentationFormat>
  <Paragraphs>150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Vamshi Krishna</cp:lastModifiedBy>
  <cp:revision>1</cp:revision>
  <dcterms:created xsi:type="dcterms:W3CDTF">2013-01-27T09:14:16Z</dcterms:created>
  <dcterms:modified xsi:type="dcterms:W3CDTF">2026-09-10T02:11:15Z</dcterms:modified>
  <cp:category/>
</cp:coreProperties>
</file>