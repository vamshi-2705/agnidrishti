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1D312-E126-4105-912B-BFD5105A8470}" v="1" dt="2026-09-10T02:07:04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" y="-4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hi Krishna" userId="3ad7ad1b40e765e0" providerId="LiveId" clId="{A5C9E084-ACD9-4DE5-8EA6-1B7264CE7C0A}"/>
    <pc:docChg chg="modSld">
      <pc:chgData name="Vamshi Krishna" userId="3ad7ad1b40e765e0" providerId="LiveId" clId="{A5C9E084-ACD9-4DE5-8EA6-1B7264CE7C0A}" dt="2026-09-10T02:07:04.537" v="3"/>
      <pc:docMkLst>
        <pc:docMk/>
      </pc:docMkLst>
      <pc:sldChg chg="addSp delSp modSp mod">
        <pc:chgData name="Vamshi Krishna" userId="3ad7ad1b40e765e0" providerId="LiveId" clId="{A5C9E084-ACD9-4DE5-8EA6-1B7264CE7C0A}" dt="2026-09-10T02:07:04.537" v="3"/>
        <pc:sldMkLst>
          <pc:docMk/>
          <pc:sldMk cId="0" sldId="258"/>
        </pc:sldMkLst>
        <pc:spChg chg="mod">
          <ac:chgData name="Vamshi Krishna" userId="3ad7ad1b40e765e0" providerId="LiveId" clId="{A5C9E084-ACD9-4DE5-8EA6-1B7264CE7C0A}" dt="2026-09-10T02:06:58.612" v="0" actId="1076"/>
          <ac:spMkLst>
            <pc:docMk/>
            <pc:sldMk cId="0" sldId="258"/>
            <ac:spMk id="21" creationId="{00000000-0000-0000-0000-000000000000}"/>
          </ac:spMkLst>
        </pc:spChg>
        <pc:spChg chg="add del mod">
          <ac:chgData name="Vamshi Krishna" userId="3ad7ad1b40e765e0" providerId="LiveId" clId="{A5C9E084-ACD9-4DE5-8EA6-1B7264CE7C0A}" dt="2026-09-10T02:07:04.537" v="3"/>
          <ac:spMkLst>
            <pc:docMk/>
            <pc:sldMk cId="0" sldId="258"/>
            <ac:spMk id="25" creationId="{D3AC7728-9A3A-D071-AE77-6F5EDFB239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549B"/>
                </a:solidFill>
                <a:latin typeface="Times New Roman"/>
              </a:defRPr>
            </a:pPr>
            <a:r>
              <a:t>SMART INDIA HACKATHON 2026</a:t>
            </a:r>
          </a:p>
          <a:p>
            <a:pPr algn="ctr">
              <a:defRPr sz="2800" b="1">
                <a:solidFill>
                  <a:srgbClr val="1E2837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5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Problem Statement ID – </a:t>
            </a:r>
            <a:r>
              <a:rPr sz="1700" b="0">
                <a:solidFill>
                  <a:srgbClr val="10549B"/>
                </a:solidFill>
                <a:latin typeface="Arial"/>
              </a:rPr>
              <a:t>SIH26162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Problem Statement Title – </a:t>
            </a:r>
            <a:r>
              <a:rPr sz="1700" b="0">
                <a:solidFill>
                  <a:srgbClr val="10549B"/>
                </a:solidFill>
                <a:latin typeface="Arial"/>
              </a:rPr>
              <a:t>AI-Based Detection and Classification of Industrial Fires and Persistent Thermal Sources Using NASA FIRMS, OSM &amp; Satellite Data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Theme – </a:t>
            </a:r>
            <a:r>
              <a:rPr sz="1700" b="0">
                <a:solidFill>
                  <a:srgbClr val="1E2837"/>
                </a:solidFill>
                <a:latin typeface="Arial"/>
              </a:rPr>
              <a:t>Space Technology / Defense &amp; Disaster Management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PS Category – </a:t>
            </a:r>
            <a:r>
              <a:rPr sz="1700" b="0">
                <a:solidFill>
                  <a:srgbClr val="1E2837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Team ID – </a:t>
            </a:r>
            <a:r>
              <a:rPr sz="1700" b="0">
                <a:solidFill>
                  <a:srgbClr val="1E2837"/>
                </a:solidFill>
                <a:latin typeface="Arial"/>
              </a:rPr>
              <a:t>[Your Team ID]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Team Name – </a:t>
            </a:r>
            <a:r>
              <a:rPr sz="1700" b="0">
                <a:solidFill>
                  <a:srgbClr val="1E2837"/>
                </a:solidFill>
                <a:latin typeface="Arial"/>
              </a:rPr>
              <a:t>Helix House / [Your Team Name]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E2837"/>
                </a:solidFill>
                <a:latin typeface="Arial"/>
              </a:rPr>
              <a:t>•  Project Name – </a:t>
            </a:r>
            <a:r>
              <a:rPr sz="1700" b="0">
                <a:solidFill>
                  <a:srgbClr val="10549B"/>
                </a:solidFill>
                <a:latin typeface="Arial"/>
              </a:rPr>
              <a:t>AGNIDRISHTI (अग्निदृष्टि) — Real-Time Geospatial AI Industrial Fire Surveillance &amp; Toxic Plume Dispersion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549B"/>
                </a:solidFill>
                <a:latin typeface="Georgia"/>
              </a:defRPr>
            </a:pPr>
            <a:r>
              <a:t>ZyraNav / AGNIDRISHTI: Real-Time Geospatial AI Industrial Fire Surveillance &amp; Toxic Plume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5778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Problem: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Satellite thermal sensors detect 15,000+ daily hotspots in India, but ~92% are non-critical stubble burning or forest fires.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Routine operational refinery flaring triggers constant false alarms, masking catastrophic hydrocarbon explosions.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Emergency command centers lack real-time downwind toxic gas hazard modeling during major chemical disasters.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66928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5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Our Idea :</a:t>
            </a:r>
          </a:p>
          <a:p>
            <a:pPr>
              <a:defRPr sz="1200">
                <a:solidFill>
                  <a:srgbClr val="1E2837"/>
                </a:solidFill>
                <a:latin typeface="Arial"/>
              </a:defRPr>
            </a:pPr>
            <a:r>
              <a:t>AGNIDRISHTI is a defense-grade dual-deliverable AI engine that isolates industrial thermal emergencies from benign biomass burning using historical FRP baseline ratios (R ≥ 2.2x) and projects dynamic Gaussian toxic plume dispersion corridors driven by live atmospheric wind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886200"/>
            <a:ext cx="557784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Proposed Solution :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Seamless 3-layer architecture: ESA WorldCover 10m LULC (primary), OSM Industrial Polygons (secondary), and FRP Baseline Ratio Engine (tertiary).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Dynamic Gaussian plume model predicts Pasquill-Gifford atmospheric dispersion driven by live 10m surface wind vectors.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Automated reverse geocoding via OSM Nominatim API resolves exact administrative boundaries, outputting RFC 7946 GeoJSON map overlays.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86200"/>
            <a:ext cx="566928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Innovation/Uniqueness: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India's first baseline-driven filter segregating routine flaring (FRP ≤ baseline) from runaway industrial explosions (&gt;2.2x).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Transforms raw 375m NASA FIRMS satellite signals into usable downwind evacuation GIS data through Gaussian signal conversion.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Zero-latency spatial query engine evaluates nationwide alerts in &lt;300ms using in-memory Shapely bounding polygons.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100% full-stack working prototype fully compliant with both NTRO mandatory deliverables specified in PS SIH26162.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4206240" cy="5257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Hardware &amp; Software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NASA FIRMS VIIRS (375m): Primary telemetry source for Suomi-NPP &amp; NOAA-20 (T4 brightness, FRP MW).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ESA WorldCover (10m LULC): Satellite land-use land-cover raster mask for cropland &amp; forest reserves.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OSM Overpass API: Live spatial query engine for industrial tags (oil_refinery, storage_tank, power_plant).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Open-Meteo Weather API: Real-time 10-meter surface wind speed &amp; direction forecast streams.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Python 3.10 / FastAPI: High-performance ASGI server with in-memory 300s TTL cache.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Shapely &amp; GeoPandas: Spatial geometry engine for polygon intersection &amp; bounding box operations.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React 18 &amp; Leaflet.js: Tactical frontend dashboard rendering RFC 7946 GeoJSON map overlays.</a:t>
            </a:r>
          </a:p>
          <a:p>
            <a:pPr>
              <a:spcAft>
                <a:spcPts val="300"/>
              </a:spcAft>
              <a:defRPr sz="1000">
                <a:solidFill>
                  <a:srgbClr val="1E2837"/>
                </a:solidFill>
                <a:latin typeface="Arial"/>
              </a:defRPr>
            </a:pPr>
            <a:r>
              <a:t>• Pytest Test Suite: 11/11 automated unit and API integration tests passing cleanly.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7040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051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549B"/>
                </a:solidFill>
                <a:latin typeface="Arial"/>
              </a:defRPr>
            </a:pPr>
            <a:r>
              <a:t>FLOW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097280"/>
            <a:ext cx="100584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GeoJSON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45920"/>
            <a:ext cx="1280160" cy="5943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NASA FIRMS</a:t>
            </a:r>
            <a:br/>
            <a:r>
              <a:t>VIIRS Satellite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486400" y="2286000"/>
            <a:ext cx="182880" cy="274320"/>
          </a:xfrm>
          <a:prstGeom prst="down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37760" y="2606040"/>
            <a:ext cx="128016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300s TTL Cache</a:t>
            </a:r>
            <a:br/>
            <a:r>
              <a:t>In-Memory Stream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486400" y="3246120"/>
            <a:ext cx="182880" cy="274320"/>
          </a:xfrm>
          <a:prstGeom prst="downArrow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37760" y="3566160"/>
            <a:ext cx="1280160" cy="6858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ESA WorldCover &amp;</a:t>
            </a:r>
            <a:br/>
            <a:r>
              <a:t>OSM Industrial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600200"/>
            <a:ext cx="5029200" cy="2697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900" b="1">
                <a:solidFill>
                  <a:srgbClr val="10549B"/>
                </a:solidFill>
                <a:latin typeface="Arial"/>
              </a:defRPr>
            </a:pPr>
            <a:r>
              <a:t>Simulation &amp; Gaussian Toxic Plume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920240"/>
            <a:ext cx="128016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Open-Meteo Wind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92440" y="2011680"/>
            <a:ext cx="27432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874519"/>
            <a:ext cx="12801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FRP Anomaly Ratio</a:t>
            </a:r>
            <a:br/>
            <a:r>
              <a:t>R = FRP / Baseline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738360" y="2011680"/>
            <a:ext cx="27432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58400" y="1920240"/>
            <a:ext cx="13716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Gaussian Dispersion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537459"/>
            <a:ext cx="2926080" cy="16002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dirty="0"/>
              <a:t>Adaptive Plume &amp; Geocoding Engine</a:t>
            </a:r>
            <a:br>
              <a:rPr dirty="0"/>
            </a:br>
            <a:r>
              <a:rPr dirty="0"/>
              <a:t>───────────────────────────────</a:t>
            </a:r>
            <a:br>
              <a:rPr dirty="0"/>
            </a:br>
            <a:r>
              <a:rPr dirty="0"/>
              <a:t>1. Ingest Wind Vectors (Speed, Dir)</a:t>
            </a:r>
            <a:br>
              <a:rPr dirty="0"/>
            </a:br>
            <a:r>
              <a:rPr dirty="0"/>
              <a:t>2. </a:t>
            </a:r>
            <a:r>
              <a:rPr dirty="0" err="1"/>
              <a:t>Pasquill</a:t>
            </a:r>
            <a:r>
              <a:rPr dirty="0"/>
              <a:t>-Gifford Stability Class</a:t>
            </a:r>
            <a:br>
              <a:rPr dirty="0"/>
            </a:br>
            <a:r>
              <a:rPr dirty="0"/>
              <a:t>3. Reverse Geocode (Village/District)</a:t>
            </a:r>
            <a:br>
              <a:rPr dirty="0"/>
            </a:br>
            <a:r>
              <a:rPr dirty="0"/>
              <a:t>4. Multi-Zone Evacuation Corridors</a:t>
            </a:r>
            <a:br>
              <a:rPr dirty="0"/>
            </a:br>
            <a:r>
              <a:rPr dirty="0"/>
              <a:t>5. Real-Time Leaflet </a:t>
            </a:r>
            <a:r>
              <a:rPr dirty="0" err="1"/>
              <a:t>GeoJSON</a:t>
            </a:r>
            <a:r>
              <a:rPr dirty="0"/>
              <a:t> Render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560320"/>
            <a:ext cx="1554480" cy="16002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AI Threat Classifier</a:t>
            </a:r>
            <a:br/>
            <a:r>
              <a:t>───────────────────</a:t>
            </a:r>
            <a:br/>
            <a:r>
              <a:t>• Segregates Stubble &amp;</a:t>
            </a:r>
            <a:br/>
            <a:r>
              <a:t>  Wildfires</a:t>
            </a:r>
            <a:br/>
            <a:r>
              <a:t>• Detects Refinery</a:t>
            </a:r>
            <a:br/>
            <a:r>
              <a:t>  Explosions (R ≥ 2.2)</a:t>
            </a:r>
            <a:br/>
            <a:r>
              <a:t>• Suppresses Flare</a:t>
            </a:r>
            <a:br/>
            <a:r>
              <a:t>  False Alarms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526280"/>
            <a:ext cx="338328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3 LAYER APPROACH</a:t>
            </a:r>
          </a:p>
          <a:p>
            <a:pPr>
              <a:spcAft>
                <a:spcPts val="300"/>
              </a:spcAft>
              <a:defRPr sz="950" b="1">
                <a:solidFill>
                  <a:srgbClr val="1E2837"/>
                </a:solidFill>
                <a:latin typeface="Arial"/>
              </a:defRPr>
            </a:pPr>
            <a:r>
              <a:t>■ Layer 3: Dynamic Plume &amp; GIS Overlays</a:t>
            </a:r>
          </a:p>
          <a:p>
            <a:pPr>
              <a:spcAft>
                <a:spcPts val="300"/>
              </a:spcAft>
              <a:defRPr sz="950" b="1">
                <a:solidFill>
                  <a:srgbClr val="1E2837"/>
                </a:solidFill>
                <a:latin typeface="Arial"/>
              </a:defRPr>
            </a:pPr>
            <a:r>
              <a:t>■ Layer 2: OSM Baseline &amp; FRP Anomaly Ratios</a:t>
            </a:r>
          </a:p>
          <a:p>
            <a:pPr>
              <a:spcAft>
                <a:spcPts val="300"/>
              </a:spcAft>
              <a:defRPr sz="950" b="1">
                <a:solidFill>
                  <a:srgbClr val="1E2837"/>
                </a:solidFill>
                <a:latin typeface="Arial"/>
              </a:defRPr>
            </a:pPr>
            <a:r>
              <a:t>■ Layer 1: NASA FIRMS Thermal Satellite Sensor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526280"/>
            <a:ext cx="3474720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5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0549B"/>
                </a:solidFill>
                <a:latin typeface="Arial"/>
              </a:defRPr>
            </a:pPr>
            <a:r>
              <a:t>GitHub Link &amp; Prototype Status</a:t>
            </a:r>
          </a:p>
          <a:p>
            <a:pPr>
              <a:spcAft>
                <a:spcPts val="400"/>
              </a:spcAft>
              <a:defRPr sz="900">
                <a:solidFill>
                  <a:srgbClr val="1E2837"/>
                </a:solidFill>
                <a:latin typeface="Arial"/>
              </a:defRPr>
            </a:pPr>
            <a:r>
              <a:t>GitHub Repository:</a:t>
            </a:r>
            <a:br/>
            <a:r>
              <a:t>https://github.com/vamshi-2705/AGNIDRISHTI.git</a:t>
            </a:r>
          </a:p>
          <a:p>
            <a:pPr>
              <a:defRPr sz="1050" b="1">
                <a:solidFill>
                  <a:srgbClr val="DC2626"/>
                </a:solidFill>
                <a:latin typeface="Arial"/>
              </a:defRPr>
            </a:pPr>
            <a:r>
              <a:t>100% of the full-stack working prototype is completed and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57784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Feasibility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Zero early hardware dependency: Built on free public satellite streams (NASA FIRMS) and open GIS infrastructure.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Converts raw satellite thermal telemetry into actionable GIS overlays for emergency dispatchers.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Validation with official datasets: Validated against verified historical baselines for major Indian refining complexes.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Safe testing environment: API simulation allows AI algorithms to be trained for any weather condition before real-time deployment.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Algorithm flexibility: Modular microservice architecture allows seamless scaling across future satellite constellations.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05840"/>
            <a:ext cx="56692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Commercial feasibility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Market Validation: Growing demand from defense (NTRO), disaster management (NDRF), and industrial safety boards.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Technical Readiness: ~95% feasible using live satellite APIs and verified historical facility FRP baselines.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Timeline: 100% full-stack working prototype completed, featuring live REST endpoints and interactive Leaflet GIS dashboard.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Success Likelihood: High (~95%) due to robust fallback logic, 300s stream caching, and 100% test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03320"/>
            <a:ext cx="557784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Challenges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Fast-moving satellite passes cause 12-hour revisit gaps between thermal infrared satellite observations.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Heavy cloud cover and smoke plumes temporarily obscuring ground-level thermal sensors.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High-density spatial queries consume memory during peak multi-fire regional outbreaks.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Satellite thermal coordinates can exhibit up to 375m spatial offset in dense urban-industrial complexes.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703320"/>
            <a:ext cx="56692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Strategy: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Multi-constellation satellite fusion merging VIIRS (Suomi-NPP + NOAA-20) with MODIS (Terra + Aqua) streams.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In-memory spatial index &amp; pre-cached bounding polygons for major Indian refineries, eliminating API latency.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Edge-optimized Python algorithms on fast ASGI servers, dynamic task scheduling, and energy-efficient processing.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Fuse satellite thermal, wind, and LULC data; implement Gaussian plume dispersion modeling to project downwind hazard 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57784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Direct Impact on Target Users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Defense &amp; Security Forces (NTRO): Enables resilient thermal surveillance in high-noise environments by eliminating ~90% false alarms.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Disaster Response Teams (NDRF/SDRF): Provides ~85% faster rescue &amp; evacuation planning (&lt;3 mins vs 2 hours).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Rural &amp; Industrial India: Ensures accurate emergency location resolution down to village and taluka administrative boundaries.</a:t>
            </a:r>
          </a:p>
          <a:p>
            <a:pPr>
              <a:spcAft>
                <a:spcPts val="300"/>
              </a:spcAft>
              <a:defRPr sz="1050">
                <a:solidFill>
                  <a:srgbClr val="1E2837"/>
                </a:solidFill>
                <a:latin typeface="Arial"/>
              </a:defRPr>
            </a:pPr>
            <a:r>
              <a:t>• Transport &amp; Logistics (Rail, Ports, Highways): Ensures reliable routing away from downwind toxic gas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03320"/>
            <a:ext cx="557784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Strategic Impact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Offers flare-independent thermal surveillance, highly resilient to agricultural noise, flaring ambiguity, and false alarms.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Strengthens India's autonomy in defense intelligence, disaster response, rural safety, and spatial technology.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Impact: Contributes to Atmanirbhar Bharat by establishing indigenous AI disaster surveillance capability for national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05840"/>
            <a:ext cx="56692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0549B"/>
                </a:solidFill>
                <a:latin typeface="Arial"/>
              </a:defRPr>
            </a:pPr>
            <a:r>
              <a:t>Economic &amp; Strategic Benefits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Reduces software licensing/import costs by 100%, promoting indigenous geospatial AI development.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₹3,200 crore total addressable market by 2030 in defense, logistics, and disaster management sectors.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Superior cost effectiveness over traditional surveillance systems through AI-enabled spatial efficiency.</a:t>
            </a:r>
          </a:p>
          <a:p>
            <a:pPr>
              <a:spcAft>
                <a:spcPts val="400"/>
              </a:spcAft>
              <a:defRPr sz="1100">
                <a:solidFill>
                  <a:srgbClr val="1E2837"/>
                </a:solidFill>
                <a:latin typeface="Arial"/>
              </a:defRPr>
            </a:pPr>
            <a:r>
              <a:t>• Encourages public-private partnerships (PPP) for scalable Indian disaster management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703320"/>
            <a:ext cx="5669280" cy="2560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5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549B"/>
                </a:solidFill>
                <a:latin typeface="Arial"/>
              </a:defRPr>
            </a:pPr>
            <a:r>
              <a:t>Industrial Fire Incidents &amp; Response Speedup Benchmark</a:t>
            </a:r>
          </a:p>
          <a:p>
            <a:pPr>
              <a:spcAft>
                <a:spcPts val="300"/>
              </a:spcAft>
              <a:defRPr sz="1000" b="1">
                <a:solidFill>
                  <a:srgbClr val="1E2837"/>
                </a:solidFill>
                <a:latin typeface="Courier New"/>
              </a:defRPr>
            </a:pPr>
            <a:r>
              <a:t>Traditional Manual Verification: 45 - 90 Mins  (High Noise ~75%)</a:t>
            </a:r>
          </a:p>
          <a:p>
            <a:pPr>
              <a:spcAft>
                <a:spcPts val="300"/>
              </a:spcAft>
              <a:defRPr sz="1000" b="1">
                <a:solidFill>
                  <a:srgbClr val="DC2626"/>
                </a:solidFill>
                <a:latin typeface="Courier New"/>
              </a:defRPr>
            </a:pPr>
            <a:r>
              <a:t>AGNIDRISHTI AI Platform:        &lt;300 Milliseconds (&gt;99% Faster)</a:t>
            </a:r>
          </a:p>
          <a:p>
            <a:pPr>
              <a:spcAft>
                <a:spcPts val="300"/>
              </a:spcAft>
              <a:defRPr sz="1000" b="1">
                <a:solidFill>
                  <a:srgbClr val="1E2837"/>
                </a:solidFill>
                <a:latin typeface="Courier New"/>
              </a:defRPr>
            </a:pPr>
            <a:r>
              <a:t>-----------------------------------------------------------------</a:t>
            </a:r>
          </a:p>
          <a:p>
            <a:pPr>
              <a:spcAft>
                <a:spcPts val="300"/>
              </a:spcAft>
              <a:defRPr sz="1000" b="1">
                <a:solidFill>
                  <a:srgbClr val="1E2837"/>
                </a:solidFill>
                <a:latin typeface="Courier New"/>
              </a:defRPr>
            </a:pPr>
            <a:r>
              <a:t>Evacuation Decision Window:    Reduced from 2 Hours to &lt;3 Minutes</a:t>
            </a:r>
          </a:p>
          <a:p>
            <a:pPr>
              <a:spcAft>
                <a:spcPts val="300"/>
              </a:spcAft>
              <a:defRPr sz="1000" b="1">
                <a:solidFill>
                  <a:srgbClr val="DC2626"/>
                </a:solidFill>
                <a:latin typeface="Courier New"/>
              </a:defRPr>
            </a:pPr>
            <a:r>
              <a:t>Test Suite Status:              11/11 Automated Tests Passed (100%)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837"/>
                </a:solidFill>
                <a:latin typeface="Georgia"/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837"/>
                </a:solidFill>
                <a:latin typeface="Times New Roman"/>
              </a:defRPr>
            </a:pPr>
            <a:r>
              <a:t>Research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0549B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57784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Gap &amp; Problem Identification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Quote recent studies documenting the rise in industrial fire incidents in Indian context. link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Show comparative performance of raw satellite alerts vs baseline AI filters in denied environments. link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05840"/>
            <a:ext cx="5669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Economic &amp; Strategic Landscape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Market forecasts: cite projected growth of India's geospatial AI sector and expected impacts on defense. link 1 link 2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Demonstrate 100% cost reduction in software acquisition by leveraging open satellite telemetry.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43200"/>
            <a:ext cx="557784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Literature Survey &amp; Competitive Analysis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Summarize latest global research on Fire Radiative Power (FRP) flaring baselines (Wooster et al.). link 1 link 2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Present findings from peer-reviewed experiments comparing FIRMS, LULC, and Gaussian plume modeling. link 1 link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5669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Field Tests &amp; Simulation Results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Include results from simulation tests (e.g., 85% improvement in rescue evacuation mapping time). link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Reference international proof-of-concept studies showing plume dispersion models tested on live refineries.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480560"/>
            <a:ext cx="5577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Technology Benchmarking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Compare accuracy, latency, and coverage of raw NASA FIRMS vs AGNIDRISHTI baseline AI engine. link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Highlight integration of AI-driven anomaly algorithms and multi-sensor fusion for threat verification.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480560"/>
            <a:ext cx="566928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0549B"/>
                </a:solidFill>
                <a:latin typeface="Arial"/>
              </a:defRPr>
            </a:pPr>
            <a:r>
              <a:t>Policy &amp; Ecosystem Analysis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Mention government initiatives for disaster management (NDMA, NDMP 2019), indigenous AI frameworks. link</a:t>
            </a:r>
          </a:p>
          <a:p>
            <a:pPr>
              <a:spcAft>
                <a:spcPts val="300"/>
              </a:spcAft>
              <a:defRPr sz="950">
                <a:solidFill>
                  <a:srgbClr val="1E2837"/>
                </a:solidFill>
                <a:latin typeface="Arial"/>
              </a:defRPr>
            </a:pPr>
            <a:r>
              <a:t>• Highlight alignment with Atmanirbhar Bharat defense geospatial mandates.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1572</Words>
  <Application>Microsoft Office PowerPoint</Application>
  <PresentationFormat>Widescreen</PresentationFormat>
  <Paragraphs>136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Vamshi Krishna</cp:lastModifiedBy>
  <cp:revision>1</cp:revision>
  <dcterms:created xsi:type="dcterms:W3CDTF">2013-01-27T09:14:16Z</dcterms:created>
  <dcterms:modified xsi:type="dcterms:W3CDTF">2026-09-10T02:07:26Z</dcterms:modified>
  <cp:category/>
</cp:coreProperties>
</file>